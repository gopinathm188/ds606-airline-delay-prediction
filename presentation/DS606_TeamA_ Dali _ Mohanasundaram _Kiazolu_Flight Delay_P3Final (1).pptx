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2" r:id="rId23"/>
    <p:sldId id="283" r:id="rId24"/>
    <p:sldId id="277" r:id="rId25"/>
    <p:sldId id="278" r:id="rId26"/>
    <p:sldId id="279" r:id="rId27"/>
    <p:sldId id="280" r:id="rId28"/>
    <p:sldId id="281" r:id="rId2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89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EC7A1-3B8B-40B5-8E92-D969DB44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B1744-2114-3F9F-FFF7-63E7E6C52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5B49D-CEBC-99EE-50C6-F3EE79935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2ED09-82A0-F3CA-F91F-73F415E79D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998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0333F-DD8C-1655-459E-3015D2A06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8240E-CB99-A7A5-93A4-6A64B65A5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7CABD-EAE0-E508-81C5-B280F1858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3512B-8735-835C-48E0-CC3268FB9C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471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492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7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932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05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512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263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71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14588"/>
            <a:ext cx="3008313" cy="81120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14588"/>
            <a:ext cx="5111750" cy="408596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386126"/>
            <a:ext cx="3008313" cy="327475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2836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707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515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067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13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14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279"/>
            <a:ext cx="8229600" cy="3147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BD96B-75CA-1841-90D5-B18FC898F67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2563" y="4767263"/>
            <a:ext cx="109487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3AB5E-33BA-8749-A20F-9CA8194C6B6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MD-flag-background-ppt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428625"/>
          </a:xfrm>
          <a:prstGeom prst="rect">
            <a:avLst/>
          </a:prstGeom>
        </p:spPr>
      </p:pic>
      <p:pic>
        <p:nvPicPr>
          <p:cNvPr id="8" name="Picture 7" descr="UMBC-primary-logo-CMYK-on-black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87" y="64633"/>
            <a:ext cx="1749252" cy="302242"/>
          </a:xfrm>
          <a:prstGeom prst="rect">
            <a:avLst/>
          </a:prstGeom>
        </p:spPr>
      </p:pic>
      <p:pic>
        <p:nvPicPr>
          <p:cNvPr id="9" name="Picture 8" descr="corner-element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19" y="4211668"/>
            <a:ext cx="1224081" cy="931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236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384048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Airline Flight Delay Prediction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1189104"/>
            <a:ext cx="563781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Using Operational &amp; Weather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5056" y="1920240"/>
            <a:ext cx="5616368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Course: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in Data Science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Name: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A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Members: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Gaurav Dali | Gopinath </a:t>
            </a:r>
            <a:r>
              <a:rPr lang="en-US" sz="16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Mohanasundaram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| Kortu </a:t>
            </a:r>
            <a:endParaRPr lang="en-US" sz="1600" dirty="0">
              <a:solidFill>
                <a:srgbClr val="FFFFFF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Professor: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Unal </a:t>
            </a:r>
            <a:r>
              <a:rPr lang="en-US" sz="16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Sakoglu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 ID: </a:t>
            </a:r>
            <a:r>
              <a:rPr lang="en-US" sz="1600" b="1" dirty="0" err="1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sriharshaeedala</a:t>
            </a:r>
            <a:r>
              <a:rPr lang="en-US" sz="16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/airline-delay
</a:t>
            </a: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GitHub: </a:t>
            </a:r>
            <a:r>
              <a:rPr lang="en-US" sz="16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github.com/gopinathm188/DS606-Airline-Delay-Prediction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89712" y="1901952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20BEFF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89712" y="19110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0F1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 Dataset Link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07484" y="2340864"/>
            <a:ext cx="3190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kaggle.com/datasets/sriharshaeedala/airline-delay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89712" y="2816352"/>
            <a:ext cx="1463040" cy="338328"/>
          </a:xfrm>
          <a:prstGeom prst="roundRect">
            <a:avLst>
              <a:gd name="adj" fmla="val 16216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89712" y="28254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5904" y="2816352"/>
            <a:ext cx="1463040" cy="338328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5904" y="2895296"/>
            <a:ext cx="1481328" cy="41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89712" y="3236976"/>
            <a:ext cx="1463040" cy="338328"/>
          </a:xfrm>
          <a:prstGeom prst="roundRect">
            <a:avLst>
              <a:gd name="adj" fmla="val 16216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89712" y="3246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Time-Series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25904" y="3236976"/>
            <a:ext cx="1463040" cy="338328"/>
          </a:xfrm>
          <a:prstGeom prst="roundRect">
            <a:avLst>
              <a:gd name="adj" fmla="val 16216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US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5904" y="3246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Carrier Analysis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4645151"/>
            <a:ext cx="1162378" cy="302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May 13, 2026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13986" y="350963"/>
            <a:ext cx="269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Motivation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622768"/>
            <a:ext cx="31548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airline delay prediction matters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251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64008" cy="157276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208" y="1316736"/>
            <a:ext cx="658368" cy="658368"/>
          </a:xfrm>
          <a:prstGeom prst="ellipse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1208" y="13167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✈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07592" y="108932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 of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07591" y="1499616"/>
            <a:ext cx="320158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Airline delays affect millions of passengers annually, disrupting travel plans and causing cascading operational effects across the national network.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82312" y="1024128"/>
            <a:ext cx="4251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82312" y="1024128"/>
            <a:ext cx="64008" cy="15727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83480" y="1316736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83480" y="13167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9864" y="115214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Financial Losses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69863" y="1499616"/>
            <a:ext cx="320158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Delays cause significant operational inefficiencies and financial losses for carriers, airports, ground crews, and travelers alike.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807208"/>
            <a:ext cx="4251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807208"/>
            <a:ext cx="64008" cy="15727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1208" y="3099816"/>
            <a:ext cx="658368" cy="65836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1208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84664" y="2791084"/>
            <a:ext cx="14146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Root Causes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72691" y="3101216"/>
            <a:ext cx="3201587" cy="123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Major contributing factors: weather conditions, carrier-related operational issues, and NAS (National Airspace System) congestion.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82312" y="2807208"/>
            <a:ext cx="42519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82312" y="2807208"/>
            <a:ext cx="64008" cy="157276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83480" y="3099816"/>
            <a:ext cx="658368" cy="65836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83480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769864" y="293522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 Value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769863" y="3282696"/>
            <a:ext cx="3201587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Accurate prediction improves airline scheduling, airport resource allocation, and overall passenger experience.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3931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Questions &amp; Hypothesis</a:t>
            </a: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755600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Guiding the Analytical Framework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3608" y="1077319"/>
            <a:ext cx="836292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QUESTION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3608" y="1304943"/>
            <a:ext cx="8229600" cy="68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we accurately predict total arrival delay at the airport–month level using operational and weather-related features?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3880" y="1973707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SECONDARY QUESTIONS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160" y="2302891"/>
            <a:ext cx="8503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8160" y="2302891"/>
            <a:ext cx="64008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8160" y="2302891"/>
            <a:ext cx="530352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8160" y="2421763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8240" y="2412619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Does weather delay significantly influence total arrival delay?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8160" y="2924683"/>
            <a:ext cx="8503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8160" y="2924683"/>
            <a:ext cx="64008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8160" y="2924683"/>
            <a:ext cx="530352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8160" y="3043555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8240" y="3034411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we classify airport–month periods into high-delay vs. normal-delay?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8160" y="3546475"/>
            <a:ext cx="8503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8160" y="3546475"/>
            <a:ext cx="64008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8160" y="3546475"/>
            <a:ext cx="530352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8160" y="3665347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8240" y="3656203"/>
            <a:ext cx="7726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 delay patterns exhibit seasonal trends?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8160" y="4223131"/>
            <a:ext cx="8503920" cy="5486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3608" y="426885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Hypothesis: </a:t>
            </a: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Weather-related and NAS-related factors significantly contribute to overall arrival delay minutes. Temporal autocorrelation (prior-month delay) is the dominant predictor.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Related Work — State of the Art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</a:t>
            </a:r>
            <a:r>
              <a:rPr lang="en-US" sz="16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Approaches and Our Differentiation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64008" cy="109728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10789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Rebollo &amp; Balakrishnan (2014)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Method: Network delay propagation modelling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1536191"/>
            <a:ext cx="3977640" cy="52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Finding: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NAS + weather top causes; flight-level, short-horizon (Transportation Research C, 44)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82312" y="1024128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82312" y="1024128"/>
            <a:ext cx="64008" cy="1097280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0789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Sternberg et al. (2017)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13350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Method: Random Forest on flight-level BTS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1536191"/>
            <a:ext cx="3977640" cy="52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Finding: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RF outperforms linear at flight level; R²≈0.45 on single-flight predictions [IEEE ITS]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231136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64008" cy="10972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" y="22860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Choi et al. (2016)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488" y="25420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Method: LSTM for time-series delay forecasting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488" y="2743199"/>
            <a:ext cx="3977640" cy="52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Finding: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captures temporal dependencies; requires thousands of timesteps for stability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82312" y="2231136"/>
            <a:ext cx="4279392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82312" y="2231136"/>
            <a:ext cx="64008" cy="10972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22860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BTS / NOAA (2023)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254203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Method: Operational + weather data integration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743199"/>
            <a:ext cx="3977640" cy="52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Finding: </a:t>
            </a: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 + NAS congestion consistently identified as major predictors across all studies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3493008"/>
            <a:ext cx="8503920" cy="13258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" y="3538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Differentiation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" y="38221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(1) Airport–month aggregation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(novel granularity vs flight-level SOTA)
</a:t>
            </a:r>
            <a:r>
              <a:rPr lang="en-US" sz="14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(2) NOAA weather event integration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(11 weather features merged to airport–month)
</a:t>
            </a:r>
            <a:r>
              <a:rPr lang="en-US" sz="14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(3) Temporal lag &amp; rolling features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(lag_delay_1, rolling_delay_mean_3 — top predictors)
</a:t>
            </a:r>
            <a:r>
              <a:rPr lang="en-US" sz="14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(4) Unified 4-task pipeline: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 + Classification + Time-Series + Interactive Carrier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64028" y="48874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[6] Rebollo (2014)  |  [8] Sternberg (2017)  |  [9] Choi (2016)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4563" y="4703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Description — BTS + NOAA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06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CORRECTED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08192" y="1005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8189" y="885236"/>
            <a:ext cx="1732195" cy="134590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125" y="1033272"/>
            <a:ext cx="1735963" cy="655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171,426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8189" y="1713220"/>
            <a:ext cx="1732195" cy="397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Records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(airport-carrier-month)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37243" y="885236"/>
            <a:ext cx="1676400" cy="134590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36400" y="962168"/>
            <a:ext cx="1689523" cy="655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49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67080" y="1553691"/>
            <a:ext cx="1616726" cy="576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Attributes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(BTS + NOAA merged)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91939" y="885236"/>
            <a:ext cx="1505158" cy="13459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31861" y="1012692"/>
            <a:ext cx="1475321" cy="428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23176" y="1686559"/>
            <a:ext cx="1492689" cy="397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Features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(n_other excluded)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263113" y="885236"/>
            <a:ext cx="1629671" cy="13459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33227" y="969904"/>
            <a:ext cx="1570729" cy="655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2013–2023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297336" y="1602503"/>
            <a:ext cx="1570729" cy="521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years of monthly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121 unique months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2267712"/>
            <a:ext cx="64008" cy="251460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2267712"/>
            <a:ext cx="4160520" cy="38404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228600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1: BTS On-Time Performance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" y="274320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Bureau of Transportation Statistics via Kaggle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" y="296530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kaggle.com/datasets/sriharshaeedala/airline-delay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" y="3200400"/>
            <a:ext cx="4123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171,426</a:t>
            </a: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airport–carrier–month obs (49 raw attributes)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5488" y="3584448"/>
            <a:ext cx="4123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 target</a:t>
            </a: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Average delay severity per delayed flight</a:t>
            </a:r>
          </a:p>
          <a:p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(avg_delay_per_delayed_flight = arr_delay ÷ arr_del15)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5488" y="3968496"/>
            <a:ext cx="4123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Outlier clipping</a:t>
            </a: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capped at 99th percentile = 176.4 min  (NEW — 1,647 rows clipped)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75488" y="4352544"/>
            <a:ext cx="4123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target</a:t>
            </a: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High-delay scenario:</a:t>
            </a:r>
          </a:p>
          <a:p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delay_15_binary = 1 if arr_del15 ≥ 15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82312" y="2267712"/>
            <a:ext cx="64008" cy="2514600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82312" y="2267712"/>
            <a:ext cx="4123944" cy="384048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82312" y="228600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2: NOAA Storm Events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937760" y="274320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NOAA National Centers for Environmental Information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296530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ncdc.noaa.gov/stormevents/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37760" y="3200400"/>
            <a:ext cx="4123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Daily storm events </a:t>
            </a: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Aggregated weather indicators aligned to airport–month level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37760" y="3584448"/>
            <a:ext cx="4123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weather features used: </a:t>
            </a: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storm_event_count, total_damage_usd, max_magnitude, n_fog, n_severe, n_thunderstorm, n_wind, n_winter_storm, has_severe_event, total_injuries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37760" y="4034236"/>
            <a:ext cx="4123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Note: </a:t>
            </a:r>
            <a:r>
              <a:rPr lang="en-US" sz="1100" dirty="0" err="1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n_other</a:t>
            </a: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- excluded due to limited operational interpretability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925291" y="4402836"/>
            <a:ext cx="4123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Merge key: </a:t>
            </a:r>
            <a:r>
              <a:rPr lang="en-US" sz="11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airport + year + month → 32 total features in final model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AB59D8AC-E2B7-2EB9-2B03-629E9D5F3827}"/>
              </a:ext>
            </a:extLst>
          </p:cNvPr>
          <p:cNvSpPr/>
          <p:nvPr/>
        </p:nvSpPr>
        <p:spPr>
          <a:xfrm>
            <a:off x="7004195" y="885236"/>
            <a:ext cx="2045040" cy="13459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– based split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(2013-2020) - 113,862 rows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 (2021) - 19,044 rows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(2022-2023) – 31,732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45377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EDA: Delay Distribution &amp; Outlier Clipping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7065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Capped at 99th Percentile = 176.4 Min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99248" y="7964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5029200" cy="235915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10712"/>
            <a:ext cx="5029200" cy="1389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50408" y="814728"/>
            <a:ext cx="3337560" cy="167099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504688" y="814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DEFINITIONS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14416" y="1044516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Regression:
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avg_delay_per_delayed_flight
= arr_delay ÷ arr_del15
</a:t>
            </a:r>
            <a:r>
              <a:rPr lang="en-US" sz="11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Mean: 60.1 min  |  Std: 25.7 min
Min: 15  |  Max: 176.4 min (clipped)
</a:t>
            </a:r>
            <a:r>
              <a:rPr lang="en-US" sz="11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Classification:
</a:t>
            </a:r>
            <a:r>
              <a:rPr lang="en-US" sz="11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delay_15_binary = (arr_del15 ≥ 15)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0: 44.31%  |  Class 1: 55.69%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550408" y="2455928"/>
            <a:ext cx="3337560" cy="79346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86400" y="24508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Outlier Clipping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614416" y="2756140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99th pct cap = 176.4 min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1,647 rows clipped (of 164,638)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RMSE inflation from rare artefacts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486400" y="3251587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NaN Audit — Lag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76968"/>
              </p:ext>
            </p:extLst>
          </p:nvPr>
        </p:nvGraphicFramePr>
        <p:xfrm>
          <a:off x="5550408" y="3465321"/>
          <a:ext cx="3084919" cy="1508760"/>
        </p:xfrm>
        <a:graphic>
          <a:graphicData uri="http://schemas.openxmlformats.org/drawingml/2006/table">
            <a:tbl>
              <a:tblPr/>
              <a:tblGrid>
                <a:gridCol w="2070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lag_delay_2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lag_delay_1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lag_flights_2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rolling_delay_std_3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lag_flights_1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843087" y="48944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BTS 2013–2023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550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EDA: Seasonal Patterns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71170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10-year Monthly Trend — Informs SARIMA(12) and Cyclic Encoding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21279"/>
            <a:ext cx="8039100" cy="33539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468368"/>
            <a:ext cx="8366760" cy="2743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5488" y="44363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 Impact: </a:t>
            </a: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Summer (Jun–Aug) and winter (Dec–Feb) peaks  →  month_sin/month_cos cyclic encoding  +  SARIMA seasonal period s=12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654040" y="49240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BTS 2013–2023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398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EDA: Carriers, Airports &amp; Weather Impact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6812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Findings Informing Feature Selection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2743200" cy="19385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987552"/>
            <a:ext cx="2743200" cy="19385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987552"/>
            <a:ext cx="2743200" cy="193852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20040" y="3035808"/>
            <a:ext cx="27432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320040" y="3035808"/>
            <a:ext cx="64008" cy="17190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475488" y="31089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Carrier → feature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75488" y="34015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Significant ULCC vs legacy variance. carrier (OneHotEncoded) retained in 32-feature set.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75488" y="43891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Used in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3227832" y="3035808"/>
            <a:ext cx="27432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3227832" y="3035808"/>
            <a:ext cx="64008" cy="17190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383280" y="31089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Airport → feature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383280" y="34015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ORD/JFK/EWR hotspots confirmed. airport (OneHotEncoded) retained.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383280" y="43891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Used in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135624" y="3035808"/>
            <a:ext cx="27432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135624" y="3035808"/>
            <a:ext cx="64008" cy="17190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291072" y="31089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 validated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291072" y="34015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has_severe_event months show ~15% higher delay severity — all 10 NOAA features retained (n_other excluded).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291072" y="43891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Used in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5699760" y="49011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BTS 2013–2023  |  [2] NOAA Storm Events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398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EDA: Correlation Heatmap - Temporal Autocorrelation Dominates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7193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lag_delay_1 and rolling_delay_mean_3 are strongest predictors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86612"/>
            <a:ext cx="4114800" cy="37307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87552"/>
            <a:ext cx="4251960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26280" y="3288792"/>
            <a:ext cx="64008" cy="35661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681728" y="3325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lag_delay_1: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065520" y="3325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Prior-month lag — strongest predictor (confirmed in XGBoost importance)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26280" y="3691128"/>
            <a:ext cx="64008" cy="356616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681728" y="3727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rolling_delay_mean_3: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065520" y="3727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3-month rolling mean — ranked #1 in XGBoost feature importance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526280" y="4093464"/>
            <a:ext cx="64008" cy="356616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681728" y="4130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storm_event_count: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088380" y="413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NOAA weather features show moderate positive correlation with target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526280" y="4572000"/>
            <a:ext cx="64008" cy="3566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681728" y="45323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Model Impact: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111240" y="4532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Lag/rolling features dominate — EDA prediction confirmed by importance plot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4312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Engineering — 32 Final Features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99248" y="1005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987552"/>
            <a:ext cx="64008" cy="178308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987552"/>
            <a:ext cx="4160520" cy="38404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1005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Temporal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(6)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1426464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year  •  year_trend  •  month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season  •  month_sin  •  month_cos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36008" y="987552"/>
            <a:ext cx="64008" cy="17830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36008" y="987552"/>
            <a:ext cx="4160520" cy="38404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6008" y="10058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Operational (6+2)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73168" y="1426464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arr_flights  •  arr_flights_safe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arr_cancelled  •  arr_diverted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cancel_rate  •  divert_rate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 carrier  •  airport (categorical)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889504"/>
            <a:ext cx="64008" cy="1783080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2889504"/>
            <a:ext cx="4160520" cy="384048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29077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 / NOAA (10)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3328416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storm_event_count  •  total_damage_usd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max_magnitude  •  n_fog  •  n_severe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n_thunderstorm  •  n_wind  •  n_winter_storm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has_severe_event  •  total_injuries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✗ n_other excluded (catch-all, irrelevant)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36008" y="2889504"/>
            <a:ext cx="64008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36008" y="2889504"/>
            <a:ext cx="416052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36008" y="29077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Lag &amp; Rolling (7)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73168" y="3328416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lag_delay_1  •  lag_delay_2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lag_flights_1  •  lag_flights_2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rolling_delay_mean_3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rolling_delay_std_3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weather_x_traffic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550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Splitting - Time-Based (No k-fold CV)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69646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P2 mentioned 5-fold CV — corrected: time-based split only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39" y="1024128"/>
            <a:ext cx="5989321" cy="59436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05156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1024128"/>
            <a:ext cx="1273629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34443" y="1097280"/>
            <a:ext cx="12736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82989" y="1024128"/>
            <a:ext cx="1045028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62749" y="1103376"/>
            <a:ext cx="1514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74320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2013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8875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2014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43430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2015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27986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2016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12541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2017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97096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2018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81651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2019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6206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2020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50762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2021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35317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2022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19872" y="166420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2023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836021"/>
              </p:ext>
            </p:extLst>
          </p:nvPr>
        </p:nvGraphicFramePr>
        <p:xfrm>
          <a:off x="320040" y="1920240"/>
          <a:ext cx="8503920" cy="14813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Split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Years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Regression 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Classification 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Train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2013–2020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4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113,862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118,801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Fit all models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Validation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2021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19,044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19,932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 selection (by val R² / F1)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Test (held-out)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2022–2023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31,732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32,693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Final evaluation — touched once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20040" y="3493008"/>
            <a:ext cx="4160520" cy="1261872"/>
          </a:xfrm>
          <a:prstGeom prst="rect">
            <a:avLst/>
          </a:prstGeom>
          <a:solidFill>
            <a:srgbClr val="E8F2FB"/>
          </a:solidFill>
          <a:ln w="6350">
            <a:solidFill>
              <a:srgbClr val="C8DC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75488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k-fold Cross-Validation Used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5488" y="3759708"/>
            <a:ext cx="3840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P2 mentioned '5-fold CV’ - this is a correction. Temporal dependency means random k-fold would allow future data to leak into training folds. Time-based split is the only correct strategy. No bootstrap confidence intervals computed (acknowledged limitation).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553712" y="3493008"/>
            <a:ext cx="4279392" cy="126187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709160" y="35387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Target &amp; Balance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709160" y="381304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Target: 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delay_15_binary = (arr_del15 ≥ 15)
</a:t>
            </a:r>
            <a:r>
              <a:rPr lang="en-US" sz="12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≥ 15 flights delayed ≥15 min in that airport–carrier–month
</a:t>
            </a:r>
            <a:r>
              <a:rPr lang="en-US" sz="12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0 (Normal): 44.31%   Class 1 (High-Delay): 55.69%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550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Pipeline &amp; Model Configuration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6431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A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USE_LOG_TARGET=True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7699248" y="996696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99248" y="1005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UPDATED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987552"/>
            <a:ext cx="64008" cy="1828800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987552"/>
            <a:ext cx="2029968" cy="402336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9966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Preprocess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1783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Numeric: MedianImputer → StandardScaler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Categorical: MostFreq Imputer → OneHotEncoder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496312" y="987552"/>
            <a:ext cx="64008" cy="182880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96312" y="987552"/>
            <a:ext cx="2029968" cy="402336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96312" y="9966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log1p Transform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33472" y="1463040"/>
            <a:ext cx="1783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log1p to target (USE_LOG_TARGET=True)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RMSE inflation from right-skewed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72584" y="987552"/>
            <a:ext cx="64008" cy="1828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72584" y="987552"/>
            <a:ext cx="2029968" cy="40233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72584" y="9966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Fit &amp; Predict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9744" y="1463040"/>
            <a:ext cx="1783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→ expm1 back to original scale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Clip negatives to 0 (safe floor)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48856" y="987552"/>
            <a:ext cx="64008" cy="18288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848856" y="987552"/>
            <a:ext cx="2029968" cy="40233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48856" y="996696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Select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86016" y="1463040"/>
            <a:ext cx="17830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by Validation R²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Ridge selected (highest val R²=0.092)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29062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Hyperparameters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818952"/>
              </p:ext>
            </p:extLst>
          </p:nvPr>
        </p:nvGraphicFramePr>
        <p:xfrm>
          <a:off x="320040" y="3255264"/>
          <a:ext cx="8503920" cy="13365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Hyperparameters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alpha=10.0  (L2 regularisation; log1p 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n_estimators=300, max_depth=8, min_samples_split=10, min_samples_leaf=5, max_features='sqrt'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n_estimators=400, max_depth=4, lr=0.05, subsample=0.8, colsample_bytree=0.8, reg_α=1, reg_λ=1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– Capstone  |  Team A  |  Airline Flight Delay Prediction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120640" y="4887468"/>
            <a:ext cx="287274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Pedregosa et al. (2011) Scikit-learn  |  [4] Chen &amp; Guestrin (2016) XGBoost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703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 Model Performance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99248" y="1005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6D187D-ED00-537D-E99E-4EF970898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34955"/>
              </p:ext>
            </p:extLst>
          </p:nvPr>
        </p:nvGraphicFramePr>
        <p:xfrm>
          <a:off x="173736" y="1062413"/>
          <a:ext cx="4416552" cy="1810212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104138">
                  <a:extLst>
                    <a:ext uri="{9D8B030D-6E8A-4147-A177-3AD203B41FA5}">
                      <a16:colId xmlns:a16="http://schemas.microsoft.com/office/drawing/2014/main" val="2684782007"/>
                    </a:ext>
                  </a:extLst>
                </a:gridCol>
                <a:gridCol w="1104138">
                  <a:extLst>
                    <a:ext uri="{9D8B030D-6E8A-4147-A177-3AD203B41FA5}">
                      <a16:colId xmlns:a16="http://schemas.microsoft.com/office/drawing/2014/main" val="1519343017"/>
                    </a:ext>
                  </a:extLst>
                </a:gridCol>
                <a:gridCol w="1104138">
                  <a:extLst>
                    <a:ext uri="{9D8B030D-6E8A-4147-A177-3AD203B41FA5}">
                      <a16:colId xmlns:a16="http://schemas.microsoft.com/office/drawing/2014/main" val="3732120315"/>
                    </a:ext>
                  </a:extLst>
                </a:gridCol>
                <a:gridCol w="1104138">
                  <a:extLst>
                    <a:ext uri="{9D8B030D-6E8A-4147-A177-3AD203B41FA5}">
                      <a16:colId xmlns:a16="http://schemas.microsoft.com/office/drawing/2014/main" val="2216127634"/>
                    </a:ext>
                  </a:extLst>
                </a:gridCol>
              </a:tblGrid>
              <a:tr h="4479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R</a:t>
                      </a:r>
                      <a:r>
                        <a:rPr lang="en-US" sz="12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198"/>
                  </a:ext>
                </a:extLst>
              </a:tr>
              <a:tr h="4479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Ridge Regression</a:t>
                      </a:r>
                    </a:p>
                  </a:txBody>
                  <a:tcPr>
                    <a:solidFill>
                      <a:srgbClr val="00B05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0.092</a:t>
                      </a:r>
                    </a:p>
                  </a:txBody>
                  <a:tcPr>
                    <a:solidFill>
                      <a:srgbClr val="00B05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25.42</a:t>
                      </a:r>
                    </a:p>
                  </a:txBody>
                  <a:tcPr>
                    <a:solidFill>
                      <a:srgbClr val="00B05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16.67</a:t>
                      </a:r>
                    </a:p>
                  </a:txBody>
                  <a:tcPr>
                    <a:solidFill>
                      <a:srgbClr val="00B050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689850"/>
                  </a:ext>
                </a:extLst>
              </a:tr>
              <a:tr h="4479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411704"/>
                  </a:ext>
                </a:extLst>
              </a:tr>
              <a:tr h="44790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-0.003</a:t>
                      </a:r>
                    </a:p>
                  </a:txBody>
                  <a:tcPr>
                    <a:solidFill>
                      <a:srgbClr val="FF000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4763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186F52-C6EA-FEF2-5B7F-EA9FC6BEA57B}"/>
              </a:ext>
            </a:extLst>
          </p:cNvPr>
          <p:cNvSpPr txBox="1"/>
          <p:nvPr/>
        </p:nvSpPr>
        <p:spPr>
          <a:xfrm>
            <a:off x="4731327" y="953864"/>
            <a:ext cx="423893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algn="ctr"/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achieved the best generalization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XGBoost overfitted the training data and produced negative test R² values.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aggregated airline delays contain high operational noise, limiting regression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low R², Ridge captured consistent delay severity signal above baseline noise.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E7ED0CF-2E4B-0E04-F4E0-F543F6F39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2954412"/>
            <a:ext cx="4416552" cy="18512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FFEB9F-15C3-90D8-8BEF-F66025518FC7}"/>
              </a:ext>
            </a:extLst>
          </p:cNvPr>
          <p:cNvSpPr txBox="1"/>
          <p:nvPr/>
        </p:nvSpPr>
        <p:spPr>
          <a:xfrm>
            <a:off x="4731326" y="3291178"/>
            <a:ext cx="406520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was selected as the final regression model due to its stability and better generalization on unseen future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169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Ridge Regression: Actual vs Predicted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27758"/>
            <a:ext cx="4567844" cy="25090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5524500" y="48874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Pedregosa et al. (2011)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C9F0CA-BD9B-BD4C-6C6A-037B77699D3C}"/>
              </a:ext>
            </a:extLst>
          </p:cNvPr>
          <p:cNvSpPr txBox="1"/>
          <p:nvPr/>
        </p:nvSpPr>
        <p:spPr>
          <a:xfrm>
            <a:off x="4941915" y="1290368"/>
            <a:ext cx="40358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captures the overall delay severity trend.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remain concentrated around the central delay range, reflecting the noisy nature of monthly aggregated airline data.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delays are more difficult to predict accurately due to operational variability and unobserved intraday factors.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C4F3B-901E-DDAC-D32E-8033A68160C2}"/>
              </a:ext>
            </a:extLst>
          </p:cNvPr>
          <p:cNvSpPr txBox="1"/>
          <p:nvPr/>
        </p:nvSpPr>
        <p:spPr>
          <a:xfrm>
            <a:off x="904695" y="3990384"/>
            <a:ext cx="7371185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provided the most stable and generalizable regression performance across unseen future periods.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32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Pipeline &amp; Model Selection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68884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 selected based on best overall test performance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39" y="987552"/>
            <a:ext cx="8348473" cy="5486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10241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Target: 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delay_15_binary = (arr_del15 ≥ 15)  →  Class 1 = High-Delay  |  Class 0 = Normal  |  Class balance: 44.31% / 55.69%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486400" y="49438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Pedregosa et al. (2011)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1A1E90-F1A7-A479-DB5E-CE38A634B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119930"/>
              </p:ext>
            </p:extLst>
          </p:nvPr>
        </p:nvGraphicFramePr>
        <p:xfrm>
          <a:off x="320038" y="1652270"/>
          <a:ext cx="8348473" cy="18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471">
                  <a:extLst>
                    <a:ext uri="{9D8B030D-6E8A-4147-A177-3AD203B41FA5}">
                      <a16:colId xmlns:a16="http://schemas.microsoft.com/office/drawing/2014/main" val="2977520073"/>
                    </a:ext>
                  </a:extLst>
                </a:gridCol>
                <a:gridCol w="6476002">
                  <a:extLst>
                    <a:ext uri="{9D8B030D-6E8A-4147-A177-3AD203B41FA5}">
                      <a16:colId xmlns:a16="http://schemas.microsoft.com/office/drawing/2014/main" val="1551868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Hyperparameters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304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max_iter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=2000, RANDOM_STATE=42  (default C=1.0)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38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n_estimators=300, max_depth=8, min_samples_split=10, min_samples_leaf=5, class_weight='balanced', RS=42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509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n_estimators=400, max_depth=4,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=0.05, subsample=0.8, colsample_bytree=0.8, eval_metric='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logloss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'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26861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3F4E973-132A-CEF0-7466-E61B92B3012B}"/>
              </a:ext>
            </a:extLst>
          </p:cNvPr>
          <p:cNvSpPr txBox="1"/>
          <p:nvPr/>
        </p:nvSpPr>
        <p:spPr>
          <a:xfrm>
            <a:off x="3983180" y="3569747"/>
            <a:ext cx="4170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F1 Scores: Logistic Regression: 0.834, Random Forest: 0.833, XGBoost: 0.775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 Performance: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0.843 ← BEST OVERALL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Logistic Regression: 0.827, XGBoost: 0.777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conclusion is Random Forest was selected due to the best overall test F1-score and balanced performance.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CFC60CB-D1B6-93BD-A8D5-88C0F7560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43" y="3569747"/>
            <a:ext cx="3336175" cy="13036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457202"/>
            <a:ext cx="751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Model Performance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706788B-BE5E-3B11-D9BF-82E5B6950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145629"/>
              </p:ext>
            </p:extLst>
          </p:nvPr>
        </p:nvGraphicFramePr>
        <p:xfrm>
          <a:off x="274320" y="1417575"/>
          <a:ext cx="4720242" cy="263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44">
                  <a:extLst>
                    <a:ext uri="{9D8B030D-6E8A-4147-A177-3AD203B41FA5}">
                      <a16:colId xmlns:a16="http://schemas.microsoft.com/office/drawing/2014/main" val="354685807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96257354"/>
                    </a:ext>
                  </a:extLst>
                </a:gridCol>
                <a:gridCol w="782781">
                  <a:extLst>
                    <a:ext uri="{9D8B030D-6E8A-4147-A177-3AD203B41FA5}">
                      <a16:colId xmlns:a16="http://schemas.microsoft.com/office/drawing/2014/main" val="4186751568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1951166533"/>
                    </a:ext>
                  </a:extLst>
                </a:gridCol>
                <a:gridCol w="734291">
                  <a:extLst>
                    <a:ext uri="{9D8B030D-6E8A-4147-A177-3AD203B41FA5}">
                      <a16:colId xmlns:a16="http://schemas.microsoft.com/office/drawing/2014/main" val="2948129089"/>
                    </a:ext>
                  </a:extLst>
                </a:gridCol>
                <a:gridCol w="671944">
                  <a:extLst>
                    <a:ext uri="{9D8B030D-6E8A-4147-A177-3AD203B41FA5}">
                      <a16:colId xmlns:a16="http://schemas.microsoft.com/office/drawing/2014/main" val="3872056529"/>
                    </a:ext>
                  </a:extLst>
                </a:gridCol>
              </a:tblGrid>
              <a:tr h="5591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228898"/>
                  </a:ext>
                </a:extLst>
              </a:tr>
              <a:tr h="7582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114612"/>
                  </a:ext>
                </a:extLst>
              </a:tr>
              <a:tr h="75829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0.745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354373"/>
                  </a:ext>
                </a:extLst>
              </a:tr>
              <a:tr h="55914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0271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6D7E338-BCE2-D1FF-D6B9-CBEAAAC00A5C}"/>
              </a:ext>
            </a:extLst>
          </p:cNvPr>
          <p:cNvSpPr txBox="1"/>
          <p:nvPr/>
        </p:nvSpPr>
        <p:spPr>
          <a:xfrm>
            <a:off x="5167745" y="1417575"/>
            <a:ext cx="370193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algn="ctr"/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strongest overall classification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the highest F1-score, indicating the best balance between precision and recall.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values above 0.95 indicate excellent separation between normal and high-delay periods.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performed substantially better than regression due to more separable binary delay patterns.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05D315-9E1C-B5A4-0BF9-7EDA31362AC8}"/>
              </a:ext>
            </a:extLst>
          </p:cNvPr>
          <p:cNvSpPr txBox="1"/>
          <p:nvPr/>
        </p:nvSpPr>
        <p:spPr>
          <a:xfrm>
            <a:off x="731519" y="4259362"/>
            <a:ext cx="7513321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Random Forest was selected as the final classification model due to its superior F1-score and balanced operational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6048" y="348996"/>
            <a:ext cx="7583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Classification: Confusion Matrix &amp; ROC Curve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73456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 — Test Set 2022–2023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20040" y="3311652"/>
            <a:ext cx="64008" cy="69494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75488" y="336651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Precision: 0.979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75488" y="3585972"/>
            <a:ext cx="397764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Very low false-alarm rate for predicted high delays.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782312" y="3311652"/>
            <a:ext cx="64008" cy="6949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937760" y="336651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Recall: 0.715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937760" y="3585972"/>
            <a:ext cx="397764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true high-delay periods successfully detected.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20040" y="4088892"/>
            <a:ext cx="64008" cy="69494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5488" y="41437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F1: 0.843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75488" y="4363212"/>
            <a:ext cx="397764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 achieved the best overall classification performance on the test set.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782312" y="4088892"/>
            <a:ext cx="64008" cy="69494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937760" y="41437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AUC: 0.954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937760" y="4363212"/>
            <a:ext cx="397764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Excellent separation between normal and high-delay periods.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257800" y="494867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 Pedregosa et al. (2011)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75CA0B-F540-3538-3AB2-4CFF406E0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095" y="881212"/>
            <a:ext cx="3492730" cy="2416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A9BE09-D35E-FD26-1711-35EA360E6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2618"/>
            <a:ext cx="4101084" cy="21493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703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Pipeline — SARIMA Grid Search (12 candidates)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71170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A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→ SARIMA(2,1,1)(1,1,1,12) → LSTM</a:t>
            </a:r>
            <a:endParaRPr lang="en-US" sz="1200" b="1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64008" cy="1051560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2743200" cy="384048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96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(repeat prior-year same month)</a:t>
            </a:r>
            <a:endParaRPr lang="en-US" sz="1200" b="1" dirty="0"/>
          </a:p>
        </p:txBody>
      </p:sp>
      <p:sp>
        <p:nvSpPr>
          <p:cNvPr id="12" name="Shape 10"/>
          <p:cNvSpPr/>
          <p:nvPr/>
        </p:nvSpPr>
        <p:spPr>
          <a:xfrm>
            <a:off x="3200400" y="987552"/>
            <a:ext cx="64008" cy="105156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987552"/>
            <a:ext cx="2743200" cy="38404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996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Grid</a:t>
            </a:r>
            <a:endParaRPr lang="en-US" sz="1600" b="1" dirty="0"/>
          </a:p>
        </p:txBody>
      </p:sp>
      <p:sp>
        <p:nvSpPr>
          <p:cNvPr id="15" name="Text 13"/>
          <p:cNvSpPr/>
          <p:nvPr/>
        </p:nvSpPr>
        <p:spPr>
          <a:xfrm>
            <a:off x="3337560" y="1444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orders × 3 seasonal = 12 candidates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validation set</a:t>
            </a:r>
            <a:endParaRPr lang="en-US" sz="1200" b="1" dirty="0"/>
          </a:p>
        </p:txBody>
      </p:sp>
      <p:sp>
        <p:nvSpPr>
          <p:cNvPr id="17" name="Shape 15"/>
          <p:cNvSpPr/>
          <p:nvPr/>
        </p:nvSpPr>
        <p:spPr>
          <a:xfrm>
            <a:off x="6080760" y="987552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987552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2400" b="1"/>
          </a:p>
        </p:txBody>
      </p:sp>
      <p:sp>
        <p:nvSpPr>
          <p:cNvPr id="19" name="Text 17"/>
          <p:cNvSpPr/>
          <p:nvPr/>
        </p:nvSpPr>
        <p:spPr>
          <a:xfrm>
            <a:off x="6080760" y="996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1444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lookback=12, LSTM(32)+Dropout(0.2)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+Dense(16)+Dense(1), EarlyStopping</a:t>
            </a:r>
            <a:endParaRPr lang="en-US" sz="1200" b="1" dirty="0"/>
          </a:p>
        </p:txBody>
      </p:sp>
      <p:sp>
        <p:nvSpPr>
          <p:cNvPr id="21" name="Text 19"/>
          <p:cNvSpPr/>
          <p:nvPr/>
        </p:nvSpPr>
        <p:spPr>
          <a:xfrm>
            <a:off x="320040" y="215798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Grid Search — Top 5 of 12 Candidates (by Validation RMSE)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006628"/>
              </p:ext>
            </p:extLst>
          </p:nvPr>
        </p:nvGraphicFramePr>
        <p:xfrm>
          <a:off x="320040" y="2433828"/>
          <a:ext cx="7985762" cy="2103120"/>
        </p:xfrm>
        <a:graphic>
          <a:graphicData uri="http://schemas.openxmlformats.org/drawingml/2006/table">
            <a:tbl>
              <a:tblPr/>
              <a:tblGrid>
                <a:gridCol w="80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8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p,d,q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P,D,Q,s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MAE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(2,1,1)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(1,1,1,12)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(0,1,1)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(1,1,1,12)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(1,1,1)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(1,1,1,12)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(1,1,1,12)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3.275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(2,1,1)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(0,1,1,12)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20040" y="459486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Candidates: (0,1,1) (1,1,0) (1,1,1) (2,1,1) × (0,1,1,12) (1,1,0,12) (1,1,1,12) = 12 total</a:t>
            </a:r>
            <a:endParaRPr lang="en-US" sz="1200" b="1" dirty="0"/>
          </a:p>
        </p:txBody>
      </p:sp>
      <p:sp>
        <p:nvSpPr>
          <p:cNvPr id="25" name="Text 22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– Capstone  |  Team A  |  Airline Flight Delay Prediction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910328" y="4887468"/>
            <a:ext cx="3113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Hochreiter &amp; Schmidhuber (1997)  |  [7] Hyndman &amp; Athanasopoulos (2021)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017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Time-Series Results - LSTM Now Competitive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62788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test MAE improved from 15.037 → 5.104  |  SARIMA still best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99248" y="10058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UPDATED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1352"/>
            <a:ext cx="5394960" cy="2697480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617994"/>
              </p:ext>
            </p:extLst>
          </p:nvPr>
        </p:nvGraphicFramePr>
        <p:xfrm>
          <a:off x="5806440" y="876302"/>
          <a:ext cx="3055620" cy="2697478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Seasonal Naive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4.762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6.074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4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★ SARIMA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64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1.659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64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1.998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6CA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LSTM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Val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6CA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4.829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5.711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Seasonal Naive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Test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3.863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5.454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4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★ SARIMA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Test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64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2.388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64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3.208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6CA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LSTM </a:t>
                      </a:r>
                      <a:endParaRPr lang="en-US" sz="12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Test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6CA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5.104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6CA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6.520</a:t>
                      </a:r>
                      <a:endParaRPr lang="en-US" sz="1400" b="1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20040" y="3645408"/>
            <a:ext cx="64008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5488" y="3681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SARIMA Best: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034540" y="3723132"/>
            <a:ext cx="6812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MAE=2.39 min. Grid-search optimised (2,1,1)(1,1,1,12). Excellent monthly forecast.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0040" y="4047744"/>
            <a:ext cx="64008" cy="3474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75488" y="4084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Improved ✓: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034540" y="4125468"/>
            <a:ext cx="6812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MAE improved from 15.037→5.104. Now competitive (not overfit). Reason: likely refined training loop.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20040" y="4450080"/>
            <a:ext cx="64008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6"/>
          <p:cNvSpPr/>
          <p:nvPr/>
        </p:nvSpPr>
        <p:spPr>
          <a:xfrm>
            <a:off x="475488" y="4486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SARIMA still preferred: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2042160" y="4527804"/>
            <a:ext cx="6812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SARIMA test MAE = 2.39 vs LSTM 5.10. SARIMA 2.1× more accurate for this ~100-point series.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5151120" y="48874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[7] Hyndman (2021)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703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Importance - XGBoost (Regression)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6431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predictors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5308847" cy="3364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49340" y="10652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Hypothesis Confirmed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882640" y="1405128"/>
            <a:ext cx="3002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882640" y="1389888"/>
            <a:ext cx="64008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38088" y="139141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Lag/Rolling #1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38088" y="1616964"/>
            <a:ext cx="2846832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rolling_delay_mean_3 = top feature. lag_delay_1 prominent. Temporal autocorrelation confirmed.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882640" y="2057400"/>
            <a:ext cx="3002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882640" y="2057400"/>
            <a:ext cx="64008" cy="594360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38088" y="20589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Weather Confirmed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038088" y="2258568"/>
            <a:ext cx="2758440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storm_event_count, n_thunderstorm etc. in top features - NOAA integration validated.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882640" y="2724912"/>
            <a:ext cx="3002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882640" y="2724912"/>
            <a:ext cx="64008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038088" y="27264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Traffic Volume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038088" y="2961132"/>
            <a:ext cx="2846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arr_flights_safe has importance - higher volume → higher delay severity.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882640" y="3392424"/>
            <a:ext cx="3002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882640" y="3392424"/>
            <a:ext cx="64008" cy="59436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038088" y="33939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Seasonal Signal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038088" y="3593592"/>
            <a:ext cx="284683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month/year_trend features in top 12 - seasonality and trend captured.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882640" y="4059936"/>
            <a:ext cx="3002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882640" y="4059936"/>
            <a:ext cx="64008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038088" y="40614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No Leakage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038088" y="4261104"/>
            <a:ext cx="2846832" cy="309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outcome-encoding features appear. Clean feature set with 32 variables.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501640" y="48874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 Chen &amp; Guestrin (2016)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3931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Monthly Carrier Prediction Comparison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819292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819292"/>
            <a:ext cx="64008" cy="89611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8741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Month Selector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11119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ipywidgets Dropdown: select any month (1–12) from the test set (2022–2023)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82312" y="819292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82312" y="819292"/>
            <a:ext cx="64008" cy="89611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87415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Carrier-Level Predictions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11119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Groups test records by carrier, averages predicted vs observed avg_delay_per_delayed_flight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1825132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1825132"/>
            <a:ext cx="64008" cy="896112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488" y="18799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±2 min Filter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488" y="21177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shows carriers where avg prediction error ≤ ±2 min — highlights accurate predictions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82312" y="1825132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82312" y="1825132"/>
            <a:ext cx="64008" cy="8961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18799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MAPE Ranking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1177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sorted by MAPE ascending — best predictions shown first (lowest % error)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2830972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2830972"/>
            <a:ext cx="64008" cy="8961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5488" y="28858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3-Panel Plot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5488" y="312358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Panel 1: Observed vs Predicted bars  |  Panel 2: Prediction error  |  Panel 3: MAPE by carrier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82312" y="2830972"/>
            <a:ext cx="4279392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82312" y="2830972"/>
            <a:ext cx="64008" cy="89611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937760" y="28858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Metrics: MAE, MAPE, RMSE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37760" y="312358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Per-carrier MAE, MAPE, RMSE and sample count reported. Overall averages printed.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040" y="4125270"/>
            <a:ext cx="8503920" cy="625038"/>
          </a:xfrm>
          <a:prstGeom prst="rect">
            <a:avLst/>
          </a:prstGeom>
          <a:solidFill>
            <a:srgbClr val="E8F2FB"/>
          </a:solidFill>
          <a:ln w="6350">
            <a:solidFill>
              <a:srgbClr val="C8DCF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75488" y="4161846"/>
            <a:ext cx="8229600" cy="588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Methodology: </a:t>
            </a:r>
            <a:r>
              <a:rPr lang="en-US" sz="1200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best_reg_model.predict(X_reg_test) directly on 2022–2023 test rows. Reverses log1p (USE_LOG_TARGET=True). Clips to 0. Groups by carrier for monthly-level carrier comparison. No counterfactual - real test predictions only.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– Capstone  |  Team A  |  Airline Flight Delay Prediction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EF74-9E0D-316E-AFBC-25704B17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F374930-9D30-EDF2-EFCF-F29CDBFCA4C1}"/>
              </a:ext>
            </a:extLst>
          </p:cNvPr>
          <p:cNvSpPr/>
          <p:nvPr/>
        </p:nvSpPr>
        <p:spPr>
          <a:xfrm>
            <a:off x="384048" y="3931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4: Carrier-Level Prediction Analysis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9F5946-B08D-1C25-6283-57A94C21C77D}"/>
              </a:ext>
            </a:extLst>
          </p:cNvPr>
          <p:cNvSpPr/>
          <p:nvPr/>
        </p:nvSpPr>
        <p:spPr>
          <a:xfrm>
            <a:off x="384048" y="5669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30BA595-36B1-2213-018F-8B183B258107}"/>
              </a:ext>
            </a:extLst>
          </p:cNvPr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– Capstone  |  Team A  |  Airline Flight Delay Prediction</a:t>
            </a:r>
            <a:endParaRPr lang="en-US" sz="7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A4174F-2686-1099-23F5-8BE1E4726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031236"/>
              </p:ext>
            </p:extLst>
          </p:nvPr>
        </p:nvGraphicFramePr>
        <p:xfrm>
          <a:off x="159327" y="923292"/>
          <a:ext cx="5430431" cy="382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1346406140"/>
                    </a:ext>
                  </a:extLst>
                </a:gridCol>
                <a:gridCol w="719888">
                  <a:extLst>
                    <a:ext uri="{9D8B030D-6E8A-4147-A177-3AD203B41FA5}">
                      <a16:colId xmlns:a16="http://schemas.microsoft.com/office/drawing/2014/main" val="2423401820"/>
                    </a:ext>
                  </a:extLst>
                </a:gridCol>
                <a:gridCol w="1004453">
                  <a:extLst>
                    <a:ext uri="{9D8B030D-6E8A-4147-A177-3AD203B41FA5}">
                      <a16:colId xmlns:a16="http://schemas.microsoft.com/office/drawing/2014/main" val="3834401978"/>
                    </a:ext>
                  </a:extLst>
                </a:gridCol>
                <a:gridCol w="679423">
                  <a:extLst>
                    <a:ext uri="{9D8B030D-6E8A-4147-A177-3AD203B41FA5}">
                      <a16:colId xmlns:a16="http://schemas.microsoft.com/office/drawing/2014/main" val="2967200400"/>
                    </a:ext>
                  </a:extLst>
                </a:gridCol>
                <a:gridCol w="893618">
                  <a:extLst>
                    <a:ext uri="{9D8B030D-6E8A-4147-A177-3AD203B41FA5}">
                      <a16:colId xmlns:a16="http://schemas.microsoft.com/office/drawing/2014/main" val="2216407977"/>
                    </a:ext>
                  </a:extLst>
                </a:gridCol>
                <a:gridCol w="588818">
                  <a:extLst>
                    <a:ext uri="{9D8B030D-6E8A-4147-A177-3AD203B41FA5}">
                      <a16:colId xmlns:a16="http://schemas.microsoft.com/office/drawing/2014/main" val="3710935321"/>
                    </a:ext>
                  </a:extLst>
                </a:gridCol>
                <a:gridCol w="913849">
                  <a:extLst>
                    <a:ext uri="{9D8B030D-6E8A-4147-A177-3AD203B41FA5}">
                      <a16:colId xmlns:a16="http://schemas.microsoft.com/office/drawing/2014/main" val="2732752603"/>
                    </a:ext>
                  </a:extLst>
                </a:gridCol>
              </a:tblGrid>
              <a:tr h="5295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Prediction Match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390370"/>
                  </a:ext>
                </a:extLst>
              </a:tr>
              <a:tr h="7461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Southwest Airlines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908340"/>
                  </a:ext>
                </a:extLst>
              </a:tr>
              <a:tr h="5295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JetBlue Airways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357654"/>
                  </a:ext>
                </a:extLst>
              </a:tr>
              <a:tr h="5295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Alaska Airways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210169"/>
                  </a:ext>
                </a:extLst>
              </a:tr>
              <a:tr h="7461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Frontier Airlines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03731"/>
                  </a:ext>
                </a:extLst>
              </a:tr>
              <a:tr h="7461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Hawaiian Airlines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8663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410214A-622F-E677-4F8D-344288EDE421}"/>
              </a:ext>
            </a:extLst>
          </p:cNvPr>
          <p:cNvSpPr txBox="1"/>
          <p:nvPr/>
        </p:nvSpPr>
        <p:spPr>
          <a:xfrm>
            <a:off x="5708073" y="864246"/>
            <a:ext cx="335972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Southwest Airlines achieved the highest prediction match (90.8%) with minimal prediction error.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delay severity remained reasonably close to actual values across all selected carriers.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prediction errors remained within a small operational range, indicating stable carrier-level pattern learning.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captured relative carrier delay trends despite monthly aggregation noise.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regression pipeline successfully captured carrier-level delay severity patterns for the selected airlines. While some underprediction remained for higher-delay carriers, the model demonstrated consistent and interpretable operational forecasting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973695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9682F-B3A0-B314-977C-EDB75BEF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9C3E4D-70A8-F8B7-23F9-389E9F2B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927" y="1001174"/>
            <a:ext cx="4003964" cy="2120076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A6041B5B-E591-F2C4-C020-BF3C43A0D15D}"/>
              </a:ext>
            </a:extLst>
          </p:cNvPr>
          <p:cNvSpPr/>
          <p:nvPr/>
        </p:nvSpPr>
        <p:spPr>
          <a:xfrm>
            <a:off x="384048" y="5669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4: Interactive Prediction Prototype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114C71-E77B-79DA-313D-D321EFF6B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1001174"/>
            <a:ext cx="4627418" cy="2062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820D3A-93BE-F9DB-C377-DC5776126776}"/>
              </a:ext>
            </a:extLst>
          </p:cNvPr>
          <p:cNvSpPr txBox="1"/>
          <p:nvPr/>
        </p:nvSpPr>
        <p:spPr>
          <a:xfrm>
            <a:off x="76200" y="3539836"/>
            <a:ext cx="416492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Month-based carrier comparison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Actual vs predicted delay visualization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chart generation using model outputs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operational carrier-level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216C5-52A9-CD20-FB97-A49FD2DACCED}"/>
              </a:ext>
            </a:extLst>
          </p:cNvPr>
          <p:cNvSpPr txBox="1"/>
          <p:nvPr/>
        </p:nvSpPr>
        <p:spPr>
          <a:xfrm>
            <a:off x="4959927" y="3858353"/>
            <a:ext cx="3952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prototype demonstrates how machine learning predictions can be integrated into an interactive analytical workflow for airline delay evaluation.</a:t>
            </a:r>
          </a:p>
        </p:txBody>
      </p:sp>
    </p:spTree>
    <p:extLst>
      <p:ext uri="{BB962C8B-B14F-4D97-AF65-F5344CB8AC3E}">
        <p14:creationId xmlns:p14="http://schemas.microsoft.com/office/powerpoint/2010/main" val="16875372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4008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Quality Interpretation &amp; Limitations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923544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923544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978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 - Ridge Regression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20640" y="978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⚠ Low R² (0.092)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" y="12527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model captures limited variance in delay severity. This is expected for monthly-aggregated airline data — delay severity is driven by unobserved intraday factors (ATC decisions, crew delays, gate congestion). Use for relative carrier/route ranking, not exact minute forecasting.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" y="16870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i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Tree-based models showed weaker generalization on unseen future periods.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002536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002536"/>
            <a:ext cx="64008" cy="100584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- Random Forest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0640" y="2057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Strong (F1=0.843, AUC=0.954)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488" y="2331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 classification performance. Reliable for high-delay scenario identification and operational flagging of airport–carrier–month periods. High precision (0.971) and strong recall (0.745) indicate balanced high-delay detection with low false alarms.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081528"/>
            <a:ext cx="8503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3081528"/>
            <a:ext cx="64008" cy="10058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" y="3136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Time-Series - SARIMA &amp; LSTM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20640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SARIMA Best (MAE=2.39 min)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" y="341071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SARIMA test MAE = 2.39 min — excellent for monthly delay severity forecasting. SARIMA remained the preferred forecasting model for this monthly time series.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5488" y="38298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i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performance was limited by the short monthly time-series length.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4008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Evaluation — Initial Predictions vs Actual Results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1460" y="827532"/>
            <a:ext cx="8503920" cy="5486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6908" y="8641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Hypothesis: 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Weather-related and NAS-related factors significantly contribute to overall arrival delay minutes.   			          Temporal autocorrelation (prior-month delay severity) is the dominant predictor.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1460" y="1504188"/>
            <a:ext cx="4279392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1460" y="1504188"/>
            <a:ext cx="64008" cy="9418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1188" y="157734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1188" y="15864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CONFIRMED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67028" y="15773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Lag #1 Predictor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1188" y="190652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Lag-based temporal features were the strongest predictors of future delay severity.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13732" y="1504188"/>
            <a:ext cx="4279392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13732" y="1504188"/>
            <a:ext cx="64008" cy="9418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23460" y="157734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23460" y="15864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CONFIRMED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29300" y="15773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Weather Features Contributed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23460" y="190652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NOAA features (storm_event_count, n_thunderstorm) in top XGBoost features - confirms hypothesis.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1460" y="2528316"/>
            <a:ext cx="4279392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1460" y="2528316"/>
            <a:ext cx="64008" cy="9418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1188" y="260146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1188" y="26106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CONFIRMED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67028" y="26014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Seasonality Confirmed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1188" y="2930652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Summer/winter peaks validated. SARIMA s=12 optimal. month_sin/cos improve regression.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13732" y="2528316"/>
            <a:ext cx="4279392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13732" y="2528316"/>
            <a:ext cx="64008" cy="9418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23460" y="260146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23460" y="26106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PARTIAL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29300" y="26014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R²=0.092 Modest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23460" y="2930652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 explains 9.2% of variance - expected for noisy monthly aggregate data. Tree-based regression models showed weaker generalization on unseen future periods.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1460" y="3552444"/>
            <a:ext cx="4279392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1460" y="3552444"/>
            <a:ext cx="64008" cy="9418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1188" y="3625596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1188" y="36347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CONFIRMED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367028" y="36255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Strong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1188" y="3954780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 AUC=0.954, F1=0.843.</a:t>
            </a:r>
          </a:p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 high-delay operational classification performance.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713732" y="3552444"/>
            <a:ext cx="4279392" cy="94183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13732" y="3552444"/>
            <a:ext cx="64008" cy="9418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823460" y="3625596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1B6CA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23460" y="36347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CONFIRMED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829300" y="36255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SARIMA Captures Seasonality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823460" y="3954780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MAE=2.39 min with s=12. SARIMA remained the preferred forecasting model for this monthly time series.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– Capstone  |  Team A  |  Airline Flight Delay Prediction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51511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Could Be Done Differently &amp; What's Next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94030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Lessons Learned And Future Research Directions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341120"/>
            <a:ext cx="427939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341120"/>
            <a:ext cx="64008" cy="12618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14051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 Regression R² (0.092)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17251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Airport–month aggregation hides important intraday operational variability. Finer-grained flight-level or daily data could improve predictive performance.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82312" y="1341120"/>
            <a:ext cx="427939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82312" y="1341120"/>
            <a:ext cx="64008" cy="12618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4051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Tree-Based Models Generalized Poorly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7251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Tree-based regression models showed weaker generalization on unseen future periods. Stronger regularisation, feature selection, or ensemble tuning could recover performance.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731008"/>
            <a:ext cx="427939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731008"/>
            <a:ext cx="64008" cy="12618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" y="27950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Bootstrap CI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" y="311505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 intervals not computed. Future work could include bootstrap confidence interval estimation for RMSE, F1, and AUC metrics.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82312" y="2731008"/>
            <a:ext cx="427939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82312" y="2731008"/>
            <a:ext cx="64008" cy="1261872"/>
          </a:xfrm>
          <a:prstGeom prst="rect">
            <a:avLst/>
          </a:prstGeom>
          <a:solidFill>
            <a:srgbClr val="3AAFD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27950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Needs More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311505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LSTM performance improved substantially, but SARIMA remained more effective for the short monthly time series.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 |  Team A  |  Airline Flight Delay Prediction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4048" y="454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042416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Bureau of Transportation Statistics (BTS).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On-Time Performance Data 2013–2023. https://www.transtats.bts.gov/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14356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1426464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NOAA NCEI.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Storm Events Database. https://www.ncdc.noaa.gov/stormevents/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773936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181965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[3]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1810512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Pedregosa, F. et al. (2011).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Scikit-learn: Machine Learning in Python. JMLR 12, 2825–2830.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157984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220370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[4]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19456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Chen, T. &amp; Guestrin, C. (2016).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XGBoost: A Scalable Tree Boosting System. KDD '16, ACM, 785–794.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" y="258775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[5]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2578608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Hochreiter, S. &amp; Schmidhuber, J. (1997).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 Short-Term Memory. Neural Computation 9(8), 1735–1780.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" y="297180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[6]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2962656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Rebollo, J.J. &amp; Balakrishnan, H. (2014).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Characterization and Prediction of Air Traffic Delays. Transportation Research Part C, 44, 231–241.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310128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" y="335584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[7]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" y="3346704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Hyndman, R.J. &amp; Athanasopoulos, G. (2021).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Forecasting: Principles and Practice, 3rd ed. OTexts.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3694176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373989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[8]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" y="3730752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Sternberg, A. et al. (2017).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Review on Flight Delay Prediction. IEEE Trans. Intelligent Transport. Syst., 18(6).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4078224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040" y="412394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[9]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4114800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Choi, S. et al. (2016).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Estimation of Airline Delay Propagation using Deep Learning. AIAA Aviation Forum.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0040" y="4462272"/>
            <a:ext cx="420624" cy="329184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20040" y="450799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[10]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2960" y="4498848"/>
            <a:ext cx="8028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A GitHub (2026).  </a:t>
            </a:r>
            <a:r>
              <a:rPr lang="en-US" sz="1200" b="1" dirty="0">
                <a:solidFill>
                  <a:srgbClr val="5A7A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DS606-Airline-Delay-Prediction. https://github.com/gopinathm188/DS606-Airline-Delay-Prediction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74320" y="48874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A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– Capstone  |  Team A  |  Airline Flight Delay Prediction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8404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Questions &amp; Discussion Welcome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993392"/>
            <a:ext cx="1828800" cy="749808"/>
          </a:xfrm>
          <a:prstGeom prst="rect">
            <a:avLst/>
          </a:prstGeom>
          <a:solidFill>
            <a:srgbClr val="22C55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Ridge R²=0.092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Regression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51760" y="1993392"/>
            <a:ext cx="1828800" cy="749808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51760" y="20391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RF F1=0.843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51760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17720" y="1993392"/>
            <a:ext cx="1828800" cy="749808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17720" y="20391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SARIMA MAE=2.39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7720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Time-Series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0" y="1993392"/>
            <a:ext cx="1828800" cy="749808"/>
          </a:xfrm>
          <a:prstGeom prst="rect">
            <a:avLst/>
          </a:prstGeom>
          <a:solidFill>
            <a:srgbClr val="EA580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12775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Carrier-Level Analysis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Prototype Workflow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97280" y="2926080"/>
            <a:ext cx="6949440" cy="190195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80160" y="301752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Team: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Gaurav Dali | Gopinath </a:t>
            </a:r>
            <a:r>
              <a:rPr lang="en-US" sz="1600" b="1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Mohanasundaram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| Kortu Kiazolu 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Course: </a:t>
            </a: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606 – Capstone in Data Science  |  Team A  |  May 13, 2026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GitHub: </a:t>
            </a:r>
            <a:r>
              <a:rPr lang="en-US" sz="16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github.com/gopinathm188/DS606-Airline-Delay-Prediction
</a:t>
            </a: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Kaggle: </a:t>
            </a:r>
            <a:r>
              <a:rPr lang="en-US" sz="16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kaggle.com/datasets/</a:t>
            </a:r>
            <a:r>
              <a:rPr lang="en-US" sz="1600" dirty="0" err="1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sriharshaeedala</a:t>
            </a:r>
            <a:r>
              <a:rPr lang="en-US" sz="1600" dirty="0">
                <a:solidFill>
                  <a:srgbClr val="3AAF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/airline-delay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MBC-powerpoint-presentation-4-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UMBC-powerpoint-presentation-4-3</Template>
  <TotalTime>1716</TotalTime>
  <Words>4241</Words>
  <Application>Microsoft Office PowerPoint</Application>
  <PresentationFormat>On-screen Show (16:9)</PresentationFormat>
  <Paragraphs>633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UMBC-powerpoint-presentation-4-3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Prof. Unal Sakoglu</Manager>
  <Company>University of Maryland Baltimore County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Flight Delay Prediction</dc:title>
  <dc:subject>Data 606</dc:subject>
  <dc:creator>Kortu Kiazolu</dc:creator>
  <cp:lastModifiedBy>Gopinath Mohanasundaram</cp:lastModifiedBy>
  <cp:revision>10</cp:revision>
  <dcterms:created xsi:type="dcterms:W3CDTF">2026-05-11T23:31:09Z</dcterms:created>
  <dcterms:modified xsi:type="dcterms:W3CDTF">2026-05-13T18:52:07Z</dcterms:modified>
  <cp:category>Capstone Project</cp:category>
</cp:coreProperties>
</file>